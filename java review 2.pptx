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0" r:id="rId2"/>
    <p:sldId id="271" r:id="rId3"/>
    <p:sldId id="272" r:id="rId4"/>
    <p:sldId id="283" r:id="rId5"/>
    <p:sldId id="294" r:id="rId6"/>
    <p:sldId id="292" r:id="rId7"/>
    <p:sldId id="290" r:id="rId8"/>
    <p:sldId id="286" r:id="rId9"/>
    <p:sldId id="295" r:id="rId10"/>
    <p:sldId id="297" r:id="rId11"/>
    <p:sldId id="287" r:id="rId12"/>
    <p:sldId id="296" r:id="rId13"/>
    <p:sldId id="298" r:id="rId14"/>
    <p:sldId id="285" r:id="rId15"/>
    <p:sldId id="293" r:id="rId16"/>
    <p:sldId id="278" r:id="rId17"/>
    <p:sldId id="280" r:id="rId18"/>
    <p:sldId id="279" r:id="rId19"/>
    <p:sldId id="281" r:id="rId20"/>
    <p:sldId id="282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43643-36BC-43B8-A953-553398629D3D}" v="8" dt="2026-08-19T08:28:06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637" autoAdjust="0"/>
  </p:normalViewPr>
  <p:slideViewPr>
    <p:cSldViewPr showGuides="1"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Shree Nadimpalli" userId="e539c9fb43eef0b3" providerId="LiveId" clId="{550E91C5-FCF5-4EF0-BC69-12D2863C59BE}"/>
    <pc:docChg chg="undo custSel addSld delSld modSld sldOrd">
      <pc:chgData name="Bhavya Shree Nadimpalli" userId="e539c9fb43eef0b3" providerId="LiveId" clId="{550E91C5-FCF5-4EF0-BC69-12D2863C59BE}" dt="2026-08-19T08:57:51.745" v="235" actId="14100"/>
      <pc:docMkLst>
        <pc:docMk/>
      </pc:docMkLst>
      <pc:sldChg chg="modSp mod">
        <pc:chgData name="Bhavya Shree Nadimpalli" userId="e539c9fb43eef0b3" providerId="LiveId" clId="{550E91C5-FCF5-4EF0-BC69-12D2863C59BE}" dt="2026-08-10T07:54:49.025" v="1" actId="20577"/>
        <pc:sldMkLst>
          <pc:docMk/>
          <pc:sldMk cId="0" sldId="270"/>
        </pc:sldMkLst>
        <pc:spChg chg="mod">
          <ac:chgData name="Bhavya Shree Nadimpalli" userId="e539c9fb43eef0b3" providerId="LiveId" clId="{550E91C5-FCF5-4EF0-BC69-12D2863C59BE}" dt="2026-08-10T07:54:49.025" v="1" actId="20577"/>
          <ac:spMkLst>
            <pc:docMk/>
            <pc:sldMk cId="0" sldId="270"/>
            <ac:spMk id="1048586" creationId="{00000000-0000-0000-0000-000000000000}"/>
          </ac:spMkLst>
        </pc:spChg>
      </pc:sldChg>
      <pc:sldChg chg="del ord">
        <pc:chgData name="Bhavya Shree Nadimpalli" userId="e539c9fb43eef0b3" providerId="LiveId" clId="{550E91C5-FCF5-4EF0-BC69-12D2863C59BE}" dt="2026-08-19T07:46:06.973" v="4" actId="2696"/>
        <pc:sldMkLst>
          <pc:docMk/>
          <pc:sldMk cId="0" sldId="274"/>
        </pc:sldMkLst>
      </pc:sldChg>
      <pc:sldChg chg="modSp mod">
        <pc:chgData name="Bhavya Shree Nadimpalli" userId="e539c9fb43eef0b3" providerId="LiveId" clId="{550E91C5-FCF5-4EF0-BC69-12D2863C59BE}" dt="2026-08-19T08:29:28.609" v="231" actId="1076"/>
        <pc:sldMkLst>
          <pc:docMk/>
          <pc:sldMk cId="0" sldId="283"/>
        </pc:sldMkLst>
        <pc:picChg chg="mod">
          <ac:chgData name="Bhavya Shree Nadimpalli" userId="e539c9fb43eef0b3" providerId="LiveId" clId="{550E91C5-FCF5-4EF0-BC69-12D2863C59BE}" dt="2026-08-19T08:29:28.609" v="231" actId="1076"/>
          <ac:picMkLst>
            <pc:docMk/>
            <pc:sldMk cId="0" sldId="283"/>
            <ac:picMk id="2" creationId="{00000000-0000-0000-0000-000000000000}"/>
          </ac:picMkLst>
        </pc:picChg>
        <pc:picChg chg="mod">
          <ac:chgData name="Bhavya Shree Nadimpalli" userId="e539c9fb43eef0b3" providerId="LiveId" clId="{550E91C5-FCF5-4EF0-BC69-12D2863C59BE}" dt="2026-08-19T08:29:25.698" v="230" actId="1076"/>
          <ac:picMkLst>
            <pc:docMk/>
            <pc:sldMk cId="0" sldId="283"/>
            <ac:picMk id="3" creationId="{00000000-0000-0000-0000-000000000000}"/>
          </ac:picMkLst>
        </pc:picChg>
      </pc:sldChg>
      <pc:sldChg chg="modSp mod">
        <pc:chgData name="Bhavya Shree Nadimpalli" userId="e539c9fb43eef0b3" providerId="LiveId" clId="{550E91C5-FCF5-4EF0-BC69-12D2863C59BE}" dt="2026-08-19T08:11:48.227" v="36" actId="14100"/>
        <pc:sldMkLst>
          <pc:docMk/>
          <pc:sldMk cId="2367895161" sldId="286"/>
        </pc:sldMkLst>
        <pc:spChg chg="mod">
          <ac:chgData name="Bhavya Shree Nadimpalli" userId="e539c9fb43eef0b3" providerId="LiveId" clId="{550E91C5-FCF5-4EF0-BC69-12D2863C59BE}" dt="2026-08-19T08:02:11.154" v="11" actId="14100"/>
          <ac:spMkLst>
            <pc:docMk/>
            <pc:sldMk cId="2367895161" sldId="286"/>
            <ac:spMk id="4" creationId="{DA551EF0-EC40-2961-DB90-5AED89BA041F}"/>
          </ac:spMkLst>
        </pc:spChg>
        <pc:spChg chg="mod">
          <ac:chgData name="Bhavya Shree Nadimpalli" userId="e539c9fb43eef0b3" providerId="LiveId" clId="{550E91C5-FCF5-4EF0-BC69-12D2863C59BE}" dt="2026-08-19T08:11:21.272" v="32" actId="14100"/>
          <ac:spMkLst>
            <pc:docMk/>
            <pc:sldMk cId="2367895161" sldId="286"/>
            <ac:spMk id="5" creationId="{7978C784-C68E-32B7-5D1C-75AE228A7E97}"/>
          </ac:spMkLst>
        </pc:spChg>
        <pc:picChg chg="mod">
          <ac:chgData name="Bhavya Shree Nadimpalli" userId="e539c9fb43eef0b3" providerId="LiveId" clId="{550E91C5-FCF5-4EF0-BC69-12D2863C59BE}" dt="2026-08-19T08:10:34.989" v="27" actId="14100"/>
          <ac:picMkLst>
            <pc:docMk/>
            <pc:sldMk cId="2367895161" sldId="286"/>
            <ac:picMk id="2" creationId="{85AD6061-560C-F45C-3D91-EA8596E123A5}"/>
          </ac:picMkLst>
        </pc:picChg>
        <pc:picChg chg="mod">
          <ac:chgData name="Bhavya Shree Nadimpalli" userId="e539c9fb43eef0b3" providerId="LiveId" clId="{550E91C5-FCF5-4EF0-BC69-12D2863C59BE}" dt="2026-08-19T08:10:41.024" v="28" actId="14100"/>
          <ac:picMkLst>
            <pc:docMk/>
            <pc:sldMk cId="2367895161" sldId="286"/>
            <ac:picMk id="3" creationId="{9766416A-8D65-C55D-37B2-20C6EED2EE24}"/>
          </ac:picMkLst>
        </pc:picChg>
        <pc:picChg chg="mod modCrop">
          <ac:chgData name="Bhavya Shree Nadimpalli" userId="e539c9fb43eef0b3" providerId="LiveId" clId="{550E91C5-FCF5-4EF0-BC69-12D2863C59BE}" dt="2026-08-19T08:11:48.227" v="36" actId="14100"/>
          <ac:picMkLst>
            <pc:docMk/>
            <pc:sldMk cId="2367895161" sldId="286"/>
            <ac:picMk id="7" creationId="{4AAB8B33-625C-4BA1-9966-78B83ACDC99E}"/>
          </ac:picMkLst>
        </pc:picChg>
      </pc:sldChg>
      <pc:sldChg chg="modSp mod">
        <pc:chgData name="Bhavya Shree Nadimpalli" userId="e539c9fb43eef0b3" providerId="LiveId" clId="{550E91C5-FCF5-4EF0-BC69-12D2863C59BE}" dt="2026-08-19T08:22:04.489" v="104" actId="14100"/>
        <pc:sldMkLst>
          <pc:docMk/>
          <pc:sldMk cId="3852753760" sldId="287"/>
        </pc:sldMkLst>
        <pc:spChg chg="mod">
          <ac:chgData name="Bhavya Shree Nadimpalli" userId="e539c9fb43eef0b3" providerId="LiveId" clId="{550E91C5-FCF5-4EF0-BC69-12D2863C59BE}" dt="2026-08-19T08:21:40" v="98" actId="1076"/>
          <ac:spMkLst>
            <pc:docMk/>
            <pc:sldMk cId="3852753760" sldId="287"/>
            <ac:spMk id="4" creationId="{6AC6BAC5-E350-4AAD-DEA3-41ACACC16473}"/>
          </ac:spMkLst>
        </pc:spChg>
        <pc:spChg chg="mod">
          <ac:chgData name="Bhavya Shree Nadimpalli" userId="e539c9fb43eef0b3" providerId="LiveId" clId="{550E91C5-FCF5-4EF0-BC69-12D2863C59BE}" dt="2026-08-19T08:22:04.489" v="104" actId="14100"/>
          <ac:spMkLst>
            <pc:docMk/>
            <pc:sldMk cId="3852753760" sldId="287"/>
            <ac:spMk id="5" creationId="{1515FA7D-3544-C953-FC37-5654E36C0742}"/>
          </ac:spMkLst>
        </pc:spChg>
        <pc:picChg chg="mod">
          <ac:chgData name="Bhavya Shree Nadimpalli" userId="e539c9fb43eef0b3" providerId="LiveId" clId="{550E91C5-FCF5-4EF0-BC69-12D2863C59BE}" dt="2026-08-19T08:21:22.872" v="96" actId="14100"/>
          <ac:picMkLst>
            <pc:docMk/>
            <pc:sldMk cId="3852753760" sldId="287"/>
            <ac:picMk id="2" creationId="{878E22CC-3759-6D37-3ABE-64C8368E7D0F}"/>
          </ac:picMkLst>
        </pc:picChg>
        <pc:picChg chg="mod">
          <ac:chgData name="Bhavya Shree Nadimpalli" userId="e539c9fb43eef0b3" providerId="LiveId" clId="{550E91C5-FCF5-4EF0-BC69-12D2863C59BE}" dt="2026-08-19T08:21:14.452" v="94" actId="14100"/>
          <ac:picMkLst>
            <pc:docMk/>
            <pc:sldMk cId="3852753760" sldId="287"/>
            <ac:picMk id="3" creationId="{45A1749A-372E-0A3D-242B-D26EEFA70A75}"/>
          </ac:picMkLst>
        </pc:picChg>
        <pc:picChg chg="mod">
          <ac:chgData name="Bhavya Shree Nadimpalli" userId="e539c9fb43eef0b3" providerId="LiveId" clId="{550E91C5-FCF5-4EF0-BC69-12D2863C59BE}" dt="2026-08-19T08:21:58.440" v="102" actId="14100"/>
          <ac:picMkLst>
            <pc:docMk/>
            <pc:sldMk cId="3852753760" sldId="287"/>
            <ac:picMk id="7" creationId="{7BADF7C5-205F-463C-A5D9-15F8AD711D13}"/>
          </ac:picMkLst>
        </pc:picChg>
      </pc:sldChg>
      <pc:sldChg chg="addSp delSp modSp new mod">
        <pc:chgData name="Bhavya Shree Nadimpalli" userId="e539c9fb43eef0b3" providerId="LiveId" clId="{550E91C5-FCF5-4EF0-BC69-12D2863C59BE}" dt="2026-08-19T08:57:51.745" v="235" actId="14100"/>
        <pc:sldMkLst>
          <pc:docMk/>
          <pc:sldMk cId="444049798" sldId="290"/>
        </pc:sldMkLst>
        <pc:spChg chg="mod">
          <ac:chgData name="Bhavya Shree Nadimpalli" userId="e539c9fb43eef0b3" providerId="LiveId" clId="{550E91C5-FCF5-4EF0-BC69-12D2863C59BE}" dt="2026-08-19T08:19:56.192" v="81" actId="14100"/>
          <ac:spMkLst>
            <pc:docMk/>
            <pc:sldMk cId="444049798" sldId="290"/>
            <ac:spMk id="2" creationId="{0C1F4A6D-FE84-E968-F792-D249FE4074D1}"/>
          </ac:spMkLst>
        </pc:spChg>
        <pc:spChg chg="del mod">
          <ac:chgData name="Bhavya Shree Nadimpalli" userId="e539c9fb43eef0b3" providerId="LiveId" clId="{550E91C5-FCF5-4EF0-BC69-12D2863C59BE}" dt="2026-08-19T08:20:31.868" v="90" actId="478"/>
          <ac:spMkLst>
            <pc:docMk/>
            <pc:sldMk cId="444049798" sldId="290"/>
            <ac:spMk id="3" creationId="{744381CD-495B-5904-3996-033581FEA5F3}"/>
          </ac:spMkLst>
        </pc:spChg>
        <pc:picChg chg="add mod">
          <ac:chgData name="Bhavya Shree Nadimpalli" userId="e539c9fb43eef0b3" providerId="LiveId" clId="{550E91C5-FCF5-4EF0-BC69-12D2863C59BE}" dt="2026-08-19T08:20:27.777" v="88" actId="14100"/>
          <ac:picMkLst>
            <pc:docMk/>
            <pc:sldMk cId="444049798" sldId="290"/>
            <ac:picMk id="5" creationId="{25E9EE28-BB59-AC08-9A74-30CC1D5BB721}"/>
          </ac:picMkLst>
        </pc:picChg>
        <pc:picChg chg="add mod">
          <ac:chgData name="Bhavya Shree Nadimpalli" userId="e539c9fb43eef0b3" providerId="LiveId" clId="{550E91C5-FCF5-4EF0-BC69-12D2863C59BE}" dt="2026-08-19T08:57:51.745" v="235" actId="14100"/>
          <ac:picMkLst>
            <pc:docMk/>
            <pc:sldMk cId="444049798" sldId="290"/>
            <ac:picMk id="7" creationId="{AAFBE34C-4AD7-C3A2-4A57-9EB9CB0C177A}"/>
          </ac:picMkLst>
        </pc:picChg>
        <pc:picChg chg="add mod">
          <ac:chgData name="Bhavya Shree Nadimpalli" userId="e539c9fb43eef0b3" providerId="LiveId" clId="{550E91C5-FCF5-4EF0-BC69-12D2863C59BE}" dt="2026-08-19T08:20:55.374" v="93" actId="14100"/>
          <ac:picMkLst>
            <pc:docMk/>
            <pc:sldMk cId="444049798" sldId="290"/>
            <ac:picMk id="9" creationId="{D922537A-004B-63B3-F8B0-040F17A48AA8}"/>
          </ac:picMkLst>
        </pc:picChg>
      </pc:sldChg>
      <pc:sldChg chg="add del">
        <pc:chgData name="Bhavya Shree Nadimpalli" userId="e539c9fb43eef0b3" providerId="LiveId" clId="{550E91C5-FCF5-4EF0-BC69-12D2863C59BE}" dt="2026-08-19T08:26:42.410" v="166" actId="2696"/>
        <pc:sldMkLst>
          <pc:docMk/>
          <pc:sldMk cId="280130718" sldId="291"/>
        </pc:sldMkLst>
      </pc:sldChg>
      <pc:sldChg chg="new del">
        <pc:chgData name="Bhavya Shree Nadimpalli" userId="e539c9fb43eef0b3" providerId="LiveId" clId="{550E91C5-FCF5-4EF0-BC69-12D2863C59BE}" dt="2026-08-19T08:24:53.903" v="107" actId="2696"/>
        <pc:sldMkLst>
          <pc:docMk/>
          <pc:sldMk cId="2423517476" sldId="291"/>
        </pc:sldMkLst>
      </pc:sldChg>
      <pc:sldChg chg="addSp modSp new mod">
        <pc:chgData name="Bhavya Shree Nadimpalli" userId="e539c9fb43eef0b3" providerId="LiveId" clId="{550E91C5-FCF5-4EF0-BC69-12D2863C59BE}" dt="2026-08-19T08:29:46.752" v="234" actId="14100"/>
        <pc:sldMkLst>
          <pc:docMk/>
          <pc:sldMk cId="65429403" sldId="292"/>
        </pc:sldMkLst>
        <pc:spChg chg="mod">
          <ac:chgData name="Bhavya Shree Nadimpalli" userId="e539c9fb43eef0b3" providerId="LiveId" clId="{550E91C5-FCF5-4EF0-BC69-12D2863C59BE}" dt="2026-08-19T08:29:06.425" v="226" actId="1076"/>
          <ac:spMkLst>
            <pc:docMk/>
            <pc:sldMk cId="65429403" sldId="292"/>
            <ac:spMk id="2" creationId="{5570ADCA-C938-AE82-E655-A2936D35D400}"/>
          </ac:spMkLst>
        </pc:spChg>
        <pc:graphicFrameChg chg="add mod modGraphic">
          <ac:chgData name="Bhavya Shree Nadimpalli" userId="e539c9fb43eef0b3" providerId="LiveId" clId="{550E91C5-FCF5-4EF0-BC69-12D2863C59BE}" dt="2026-08-19T08:28:02.250" v="179"/>
          <ac:graphicFrameMkLst>
            <pc:docMk/>
            <pc:sldMk cId="65429403" sldId="292"/>
            <ac:graphicFrameMk id="3" creationId="{C54BECE5-04D0-CA47-3BDA-A017D13BB34B}"/>
          </ac:graphicFrameMkLst>
        </pc:graphicFrameChg>
        <pc:picChg chg="add mod">
          <ac:chgData name="Bhavya Shree Nadimpalli" userId="e539c9fb43eef0b3" providerId="LiveId" clId="{550E91C5-FCF5-4EF0-BC69-12D2863C59BE}" dt="2026-08-19T08:29:20.403" v="229" actId="1076"/>
          <ac:picMkLst>
            <pc:docMk/>
            <pc:sldMk cId="65429403" sldId="292"/>
            <ac:picMk id="5" creationId="{15B74870-0EF4-0089-C43E-FED0E5D8BDFA}"/>
          </ac:picMkLst>
        </pc:picChg>
        <pc:picChg chg="add mod">
          <ac:chgData name="Bhavya Shree Nadimpalli" userId="e539c9fb43eef0b3" providerId="LiveId" clId="{550E91C5-FCF5-4EF0-BC69-12D2863C59BE}" dt="2026-08-19T08:29:46.752" v="234" actId="14100"/>
          <ac:picMkLst>
            <pc:docMk/>
            <pc:sldMk cId="65429403" sldId="292"/>
            <ac:picMk id="7" creationId="{7606B159-6088-7262-CFDE-6D869AED8F9C}"/>
          </ac:picMkLst>
        </pc:picChg>
      </pc:sldChg>
      <pc:sldChg chg="add del">
        <pc:chgData name="Bhavya Shree Nadimpalli" userId="e539c9fb43eef0b3" providerId="LiveId" clId="{550E91C5-FCF5-4EF0-BC69-12D2863C59BE}" dt="2026-08-19T08:26:38.932" v="165" actId="2696"/>
        <pc:sldMkLst>
          <pc:docMk/>
          <pc:sldMk cId="2851432713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3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4863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637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2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6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2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95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96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97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1048598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621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22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23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4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1048625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604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5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1048606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7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1048628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 txBox="1">
            <a:spLocks noGrp="1"/>
          </p:cNvSpPr>
          <p:nvPr>
            <p:ph type="title"/>
          </p:nvPr>
        </p:nvSpPr>
        <p:spPr>
          <a:xfrm>
            <a:off x="685800" y="2243007"/>
            <a:ext cx="10591800" cy="284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CULINARYCART: AI-ENABLED BRAND PREFERENCE RECOMMENDATION ENGINE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94791"/>
            <a:ext cx="11277600" cy="9816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705600" y="4495800"/>
            <a:ext cx="5105400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n-IN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50000"/>
              </a:lnSpc>
            </a:pPr>
            <a:r>
              <a:rPr lang="en-IN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BOREDDY LAVANYA [192311131]</a:t>
            </a:r>
          </a:p>
          <a:p>
            <a:pPr marL="12700" marR="5080" algn="ctr">
              <a:lnSpc>
                <a:spcPct val="150000"/>
              </a:lnSpc>
            </a:pPr>
            <a:r>
              <a:rPr lang="en-IN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BHAVYA SHREE[192572039]</a:t>
            </a:r>
          </a:p>
          <a:p>
            <a:pPr marL="12700" marR="5080" algn="ctr">
              <a:lnSpc>
                <a:spcPct val="150000"/>
              </a:lnSpc>
            </a:pPr>
            <a:r>
              <a:rPr lang="en-IN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M.SUNITHA[192424157]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5144869"/>
            <a:ext cx="3474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V. SARALA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object 2"/>
          <p:cNvSpPr txBox="1">
            <a:spLocks noGrp="1"/>
          </p:cNvSpPr>
          <p:nvPr>
            <p:ph type="title"/>
          </p:nvPr>
        </p:nvSpPr>
        <p:spPr>
          <a:xfrm>
            <a:off x="3124200" y="457200"/>
            <a:ext cx="51054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48589" name="object 3"/>
          <p:cNvSpPr txBox="1"/>
          <p:nvPr/>
        </p:nvSpPr>
        <p:spPr>
          <a:xfrm>
            <a:off x="381000" y="1905000"/>
            <a:ext cx="7391400" cy="4211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AI-based system for recommending suitable product brands.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Helps users choose the best kitchen utensils and grocery products.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Analyzes user preferences such as budget, brand, and ratings.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Uses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 for personalized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Compares products based on price, quality, and features.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Saves users time by providing accurate suggestions.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Improves the online shopping experience.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Enhances customer satisfaction with smart recommendations.</a:t>
            </a:r>
          </a:p>
        </p:txBody>
      </p:sp>
      <p:pic>
        <p:nvPicPr>
          <p:cNvPr id="209715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209715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A8DC6C-C161-4C91-9F66-A2C7DDD5C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836753"/>
            <a:ext cx="4191000" cy="45114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object 2"/>
          <p:cNvSpPr txBox="1">
            <a:spLocks noGrp="1"/>
          </p:cNvSpPr>
          <p:nvPr>
            <p:ph type="title"/>
          </p:nvPr>
        </p:nvSpPr>
        <p:spPr>
          <a:xfrm>
            <a:off x="-304800" y="457200"/>
            <a:ext cx="1081900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 algn="ctr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1" name="object 3"/>
          <p:cNvSpPr txBox="1"/>
          <p:nvPr/>
        </p:nvSpPr>
        <p:spPr>
          <a:xfrm>
            <a:off x="357352" y="1295399"/>
            <a:ext cx="11529848" cy="5029201"/>
          </a:xfrm>
          <a:prstGeom prst="rect">
            <a:avLst/>
          </a:prstGeom>
        </p:spPr>
        <p:txBody>
          <a:bodyPr vert="horz" wrap="square" lIns="0" tIns="110489" rIns="0" bIns="0" rtlCol="0">
            <a:no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Difficulty in Choosing the Right Brand: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Customers often find it difficult to select the best brand because many products with similar features are available in the market.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Time-Consuming Product Comparison: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Manually comparing products based on price, quality, ratings, material, and features requires significant time and effort before making a purchase.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Lack of Personalized Recommendations: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Most shopping platforms provide general recommendations that do not fully match a user's preferences, budget, or shopping history.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Need for an AI-Based Recommendation System: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There is a need for an intelligent system that uses AI to analyze user preferences and recommend the most suitable brands, helping users make faster and more accurate purchasing decisions.</a:t>
            </a:r>
          </a:p>
        </p:txBody>
      </p:sp>
      <p:pic>
        <p:nvPicPr>
          <p:cNvPr id="209715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86752"/>
            <a:ext cx="1103582" cy="1342897"/>
          </a:xfrm>
          <a:prstGeom prst="rect">
            <a:avLst/>
          </a:prstGeom>
        </p:spPr>
      </p:pic>
      <p:pic>
        <p:nvPicPr>
          <p:cNvPr id="209715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170471"/>
            <a:ext cx="1447800" cy="1342897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170471"/>
            <a:ext cx="1520062" cy="1342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09900" y="457200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2057400"/>
            <a:ext cx="7205345" cy="4294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Develop an AI-based brand recommendation system.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Provide personalized product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Compare products based on price, quality, and ratings.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Reduce the time required to select products.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Improve the online shopping experience.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Recommend brands using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Help users make better purchasing decisions.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Increase recommendation accuracy and user satisfaction.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25E41-88CC-4A54-B1AC-123CDC6F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054" y="1955276"/>
            <a:ext cx="4115190" cy="4549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FE5B-A674-DFFD-1C4F-3E301EB97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461899"/>
            <a:ext cx="6244970" cy="6965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6DB08B-9F43-D6FC-F2C0-2CB8C5F3355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14400" y="1447800"/>
          <a:ext cx="10515599" cy="5028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3473">
                  <a:extLst>
                    <a:ext uri="{9D8B030D-6E8A-4147-A177-3AD203B41FA5}">
                      <a16:colId xmlns:a16="http://schemas.microsoft.com/office/drawing/2014/main" val="3442038743"/>
                    </a:ext>
                  </a:extLst>
                </a:gridCol>
                <a:gridCol w="2496509">
                  <a:extLst>
                    <a:ext uri="{9D8B030D-6E8A-4147-A177-3AD203B41FA5}">
                      <a16:colId xmlns:a16="http://schemas.microsoft.com/office/drawing/2014/main" val="3591509945"/>
                    </a:ext>
                  </a:extLst>
                </a:gridCol>
                <a:gridCol w="3026072">
                  <a:extLst>
                    <a:ext uri="{9D8B030D-6E8A-4147-A177-3AD203B41FA5}">
                      <a16:colId xmlns:a16="http://schemas.microsoft.com/office/drawing/2014/main" val="2070490607"/>
                    </a:ext>
                  </a:extLst>
                </a:gridCol>
                <a:gridCol w="4009545">
                  <a:extLst>
                    <a:ext uri="{9D8B030D-6E8A-4147-A177-3AD203B41FA5}">
                      <a16:colId xmlns:a16="http://schemas.microsoft.com/office/drawing/2014/main" val="3716370617"/>
                    </a:ext>
                  </a:extLst>
                </a:gridCol>
              </a:tblGrid>
              <a:tr h="49146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Author &amp; Year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Focus / Methods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Key Findings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32805047"/>
                  </a:ext>
                </a:extLst>
              </a:tr>
              <a:tr h="74205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Sarwar et al.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Item-Based Collaborative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Product similarity based on user ratings helps generate relevant recommendations.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202356"/>
                  </a:ext>
                </a:extLst>
              </a:tr>
              <a:tr h="74205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 err="1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Adomavicius</a:t>
                      </a: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&amp; </a:t>
                      </a:r>
                      <a:r>
                        <a:rPr lang="en-IN" b="0" i="0" dirty="0" err="1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Tuzhilin</a:t>
                      </a: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Hybrid &amp; Content-Based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Combining recommendation techniques improves personalization.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204394"/>
                  </a:ext>
                </a:extLst>
              </a:tr>
              <a:tr h="100725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He et al. (2026)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Neural Collaborative Filtering; Deep Learning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Neural networks can model complex user-item interactions and improve personalized recommendations.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3820801055"/>
                  </a:ext>
                </a:extLst>
              </a:tr>
              <a:tr h="87586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Koren, Bell &amp; Volinsky (2025)</a:t>
                      </a:r>
                      <a:endParaRPr lang="en-IN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Matrix Factorization; User-Item Rating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Latent factors extracted from ratings can improve recommendation accuracy and scalability.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239526"/>
                  </a:ext>
                </a:extLst>
              </a:tr>
              <a:tr h="87586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Ricci, Rokach &amp; Shapira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Recommender-System Algorithms; Evaluation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Recommender systems can support personalized decision-making using multiple recommendation approaches.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34194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281CADC-9D30-D6BF-24D4-DE4BEFA25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4306"/>
            <a:ext cx="990345" cy="919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DF6275-CB62-8352-E077-08C287BEF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054" y="65980"/>
            <a:ext cx="1063818" cy="9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ADCA-C938-AE82-E655-A2936D35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563804"/>
            <a:ext cx="8610599" cy="615553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METHOD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4BECE5-04D0-CA47-3BDA-A017D13BB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267638"/>
              </p:ext>
            </p:extLst>
          </p:nvPr>
        </p:nvGraphicFramePr>
        <p:xfrm>
          <a:off x="1143000" y="1981200"/>
          <a:ext cx="1021080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1190">
                  <a:extLst>
                    <a:ext uri="{9D8B030D-6E8A-4147-A177-3AD203B41FA5}">
                      <a16:colId xmlns:a16="http://schemas.microsoft.com/office/drawing/2014/main" val="3251318349"/>
                    </a:ext>
                  </a:extLst>
                </a:gridCol>
                <a:gridCol w="3719215">
                  <a:extLst>
                    <a:ext uri="{9D8B030D-6E8A-4147-A177-3AD203B41FA5}">
                      <a16:colId xmlns:a16="http://schemas.microsoft.com/office/drawing/2014/main" val="2151862755"/>
                    </a:ext>
                  </a:extLst>
                </a:gridCol>
                <a:gridCol w="4000395">
                  <a:extLst>
                    <a:ext uri="{9D8B030D-6E8A-4147-A177-3AD203B41FA5}">
                      <a16:colId xmlns:a16="http://schemas.microsoft.com/office/drawing/2014/main" val="4097711532"/>
                    </a:ext>
                  </a:extLst>
                </a:gridCol>
              </a:tblGrid>
              <a:tr h="488194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METHOD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METHOD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8724498"/>
                  </a:ext>
                </a:extLst>
              </a:tr>
              <a:tr h="488194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</a:t>
                      </a:r>
                      <a:endParaRPr lang="en-IN" b="0" i="0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popularity and general ratings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user preferences and product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03982"/>
                  </a:ext>
                </a:extLst>
              </a:tr>
              <a:tr h="700526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Brand Preference</a:t>
                      </a:r>
                      <a:endParaRPr lang="en-IN" b="0" i="0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consideration of brands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preferred brands for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301994"/>
                  </a:ext>
                </a:extLst>
              </a:tr>
              <a:tr h="488194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Grouping</a:t>
                      </a:r>
                      <a:endParaRPr lang="en-IN" b="0" i="0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intelligent 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 Clustering</a:t>
                      </a: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groups similar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121046"/>
                  </a:ext>
                </a:extLst>
              </a:tr>
              <a:tr h="488194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Matching</a:t>
                      </a:r>
                      <a:endParaRPr lang="en-IN" b="0" i="0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manual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Content-Based Filtering</a:t>
                      </a: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matches products with user preferences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85043"/>
                  </a:ext>
                </a:extLst>
              </a:tr>
              <a:tr h="488194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Personalization</a:t>
                      </a:r>
                      <a:endParaRPr lang="en-IN" b="0" i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recommendations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brand and product recommendations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3261756504"/>
                  </a:ext>
                </a:extLst>
              </a:tr>
            </a:tbl>
          </a:graphicData>
        </a:graphic>
      </p:graphicFrame>
      <p:pic>
        <p:nvPicPr>
          <p:cNvPr id="5" name="object 4">
            <a:extLst>
              <a:ext uri="{FF2B5EF4-FFF2-40B4-BE49-F238E27FC236}">
                <a16:creationId xmlns:a16="http://schemas.microsoft.com/office/drawing/2014/main" id="{15B74870-0EF4-0089-C43E-FED0E5D8BD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304800"/>
            <a:ext cx="990600" cy="111323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7606B159-6088-7262-CFDE-6D869AED8F9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8862" y="304800"/>
            <a:ext cx="990600" cy="97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4A6D-FE84-E968-F792-D249FE40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461899"/>
            <a:ext cx="9067799" cy="104804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9EE28-BB59-AC08-9A74-30CC1D5BB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1371600"/>
            <a:ext cx="9067800" cy="495300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AFBE34C-4AD7-C3A2-4A57-9EB9CB0C17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826" y="152399"/>
            <a:ext cx="1196973" cy="1066801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D922537A-004B-63B3-F8B0-040F17A48AA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52399"/>
            <a:ext cx="1520062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49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85AD6061-560C-F45C-3D91-EA8596E123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826" y="152399"/>
            <a:ext cx="1447800" cy="1066801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9766416A-8D65-C55D-37B2-20C6EED2EE2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52399"/>
            <a:ext cx="1520062" cy="10668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551EF0-EC40-2961-DB90-5AED89BA041F}"/>
              </a:ext>
            </a:extLst>
          </p:cNvPr>
          <p:cNvSpPr txBox="1"/>
          <p:nvPr/>
        </p:nvSpPr>
        <p:spPr>
          <a:xfrm>
            <a:off x="1600200" y="381000"/>
            <a:ext cx="8458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Preference Acquisition &amp; Product Data Management Using K-Means Clustering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8C784-C68E-32B7-5D1C-75AE228A7E97}"/>
              </a:ext>
            </a:extLst>
          </p:cNvPr>
          <p:cNvSpPr txBox="1"/>
          <p:nvPr/>
        </p:nvSpPr>
        <p:spPr>
          <a:xfrm>
            <a:off x="263116" y="1248697"/>
            <a:ext cx="758548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preferences such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brands, budget, product categories, ratings, and purchase preferences.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product details including brand, price, material, quality, category, and customer ratings.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organizes the collected user and product data for further processing.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group users with similar preferences and interests.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user groups such as budget-focused, premium-brand, and quality-focused users.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these user groups to support personalized brand and product recommendations.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B8B33-625C-4BA1-9966-78B83ACDC9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664" t="9836"/>
          <a:stretch>
            <a:fillRect/>
          </a:stretch>
        </p:blipFill>
        <p:spPr>
          <a:xfrm>
            <a:off x="8158316" y="1447800"/>
            <a:ext cx="3806062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9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85AD6061-560C-F45C-3D91-EA8596E123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826" y="152399"/>
            <a:ext cx="1447800" cy="954107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9766416A-8D65-C55D-37B2-20C6EED2EE2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52399"/>
            <a:ext cx="1520062" cy="954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551EF0-EC40-2961-DB90-5AED89BA041F}"/>
              </a:ext>
            </a:extLst>
          </p:cNvPr>
          <p:cNvSpPr txBox="1"/>
          <p:nvPr/>
        </p:nvSpPr>
        <p:spPr>
          <a:xfrm>
            <a:off x="1600200" y="381000"/>
            <a:ext cx="845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Algorithm Pseudo Code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8C784-C68E-32B7-5D1C-75AE228A7E97}"/>
              </a:ext>
            </a:extLst>
          </p:cNvPr>
          <p:cNvSpPr txBox="1"/>
          <p:nvPr/>
        </p:nvSpPr>
        <p:spPr>
          <a:xfrm>
            <a:off x="990600" y="1248697"/>
            <a:ext cx="6858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Choose number of clusters K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K initial centroids randomly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REPEAT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each data point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Calculate distance from each centroid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Assign data point to nearest centroid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 FOR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each cluster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Calculate new centroid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 FOR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UNTIL centroids do not change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 the final clusters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EE170-4B62-41E6-BDC8-96F826D5A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248697"/>
            <a:ext cx="5867400" cy="545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85AD6061-560C-F45C-3D91-EA8596E123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826" y="152399"/>
            <a:ext cx="1447800" cy="954107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9766416A-8D65-C55D-37B2-20C6EED2EE2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52399"/>
            <a:ext cx="1520062" cy="954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551EF0-EC40-2961-DB90-5AED89BA041F}"/>
              </a:ext>
            </a:extLst>
          </p:cNvPr>
          <p:cNvSpPr txBox="1"/>
          <p:nvPr/>
        </p:nvSpPr>
        <p:spPr>
          <a:xfrm>
            <a:off x="1600200" y="381000"/>
            <a:ext cx="84582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ODULE – 1 OUTPUT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D6B9-5D5C-4EEC-A172-546890374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77298"/>
            <a:ext cx="10820400" cy="499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19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878E22CC-3759-6D37-3ABE-64C8368E7D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0984" y="225353"/>
            <a:ext cx="1044574" cy="1146247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45A1749A-372E-0A3D-242B-D26EEFA70A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2973"/>
            <a:ext cx="990600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C6BAC5-E350-4AAD-DEA3-41ACACC16473}"/>
              </a:ext>
            </a:extLst>
          </p:cNvPr>
          <p:cNvSpPr txBox="1"/>
          <p:nvPr/>
        </p:nvSpPr>
        <p:spPr>
          <a:xfrm>
            <a:off x="1275735" y="327059"/>
            <a:ext cx="9168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Module 2: AI-Based Brand Preference Recommendation using Content-Based Filtering Algorithm</a:t>
            </a:r>
          </a:p>
          <a:p>
            <a:pPr algn="ctr"/>
            <a:endParaRPr lang="en-IN" sz="2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5FA7D-3544-C953-FC37-5654E36C0742}"/>
              </a:ext>
            </a:extLst>
          </p:cNvPr>
          <p:cNvSpPr txBox="1"/>
          <p:nvPr/>
        </p:nvSpPr>
        <p:spPr>
          <a:xfrm>
            <a:off x="304799" y="1577611"/>
            <a:ext cx="72390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Uses Artificial Intelligence to analyze user preferences and generate personalized brand and product recommendations based on user requirements.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Implements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 to compare user preferences with product features such as brand, category, price, material, quality, and ratings.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Calculates similarity scores between user interests and available products, then ranks products based on their relevance and matching values.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Provides customized brand suggestions by considering user choices, previous interactions, and preferred product characteristics.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Helps users make faster and better purchasing decisions by reducing search effort and improving recommendation accuracy.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DF7C5-205F-463C-A5D9-15F8AD711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577611"/>
            <a:ext cx="4116958" cy="495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3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878E22CC-3759-6D37-3ABE-64C8368E7D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0984" y="225353"/>
            <a:ext cx="1044574" cy="1146247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45A1749A-372E-0A3D-242B-D26EEFA70A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2973"/>
            <a:ext cx="990600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C6BAC5-E350-4AAD-DEA3-41ACACC16473}"/>
              </a:ext>
            </a:extLst>
          </p:cNvPr>
          <p:cNvSpPr txBox="1"/>
          <p:nvPr/>
        </p:nvSpPr>
        <p:spPr>
          <a:xfrm>
            <a:off x="1275735" y="327059"/>
            <a:ext cx="9168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 Pseudo Code</a:t>
            </a:r>
          </a:p>
          <a:p>
            <a:pPr algn="ctr"/>
            <a:endParaRPr lang="en-IN" sz="2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5FA7D-3544-C953-FC37-5654E36C0742}"/>
              </a:ext>
            </a:extLst>
          </p:cNvPr>
          <p:cNvSpPr txBox="1"/>
          <p:nvPr/>
        </p:nvSpPr>
        <p:spPr>
          <a:xfrm>
            <a:off x="304799" y="1577611"/>
            <a:ext cx="7239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BEGIN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Get user preferences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Get product details</a:t>
            </a:r>
          </a:p>
          <a:p>
            <a:pPr algn="just"/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Create user profile from preferences</a:t>
            </a:r>
          </a:p>
          <a:p>
            <a:pPr algn="just"/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FOR each product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    Extract product features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    Calculate similarity with user profile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    Store similarity score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END FOR</a:t>
            </a:r>
          </a:p>
          <a:p>
            <a:pPr algn="just"/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Sort products by similarity score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Select top-ranked products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   Display recommendations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8EDF3F-EA44-4793-A973-27D4153CB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548282"/>
            <a:ext cx="6172200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5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878E22CC-3759-6D37-3ABE-64C8368E7D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0984" y="225353"/>
            <a:ext cx="1044574" cy="1146247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45A1749A-372E-0A3D-242B-D26EEFA70A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2973"/>
            <a:ext cx="990600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C6BAC5-E350-4AAD-DEA3-41ACACC16473}"/>
              </a:ext>
            </a:extLst>
          </p:cNvPr>
          <p:cNvSpPr txBox="1"/>
          <p:nvPr/>
        </p:nvSpPr>
        <p:spPr>
          <a:xfrm>
            <a:off x="1275735" y="327059"/>
            <a:ext cx="916838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" panose="02020603050405020304" pitchFamily="18" charset="0"/>
                <a:cs typeface="Times" panose="02020603050405020304" pitchFamily="18" charset="0"/>
              </a:rPr>
              <a:t>MODULE – 2 OUTPUT</a:t>
            </a:r>
          </a:p>
          <a:p>
            <a:pPr algn="ctr"/>
            <a:endParaRPr lang="en-IN" sz="2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5FA7D-3544-C953-FC37-5654E36C0742}"/>
              </a:ext>
            </a:extLst>
          </p:cNvPr>
          <p:cNvSpPr txBox="1"/>
          <p:nvPr/>
        </p:nvSpPr>
        <p:spPr>
          <a:xfrm>
            <a:off x="304799" y="1577611"/>
            <a:ext cx="7239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04624-CFA5-43F1-BC7B-B6A3D8A98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803795"/>
            <a:ext cx="11125200" cy="48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75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A2F8BCEA-993D-3B3E-01C8-9907EED077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46303"/>
            <a:ext cx="1520062" cy="1342897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02F42B3A-E91F-E03A-80E4-D8E5D3F2A9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6303"/>
            <a:ext cx="1447800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35C70D-8D46-098D-CC93-2C2E5886AF00}"/>
              </a:ext>
            </a:extLst>
          </p:cNvPr>
          <p:cNvSpPr txBox="1"/>
          <p:nvPr/>
        </p:nvSpPr>
        <p:spPr>
          <a:xfrm>
            <a:off x="1905000" y="304800"/>
            <a:ext cx="86106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Module 3: Product Comparison, Recommendation Report &amp; Feedback Analysis</a:t>
            </a:r>
          </a:p>
          <a:p>
            <a:endParaRPr lang="en-IN" sz="2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619B2-8807-5EE6-6A27-2E8838DD6E1E}"/>
              </a:ext>
            </a:extLst>
          </p:cNvPr>
          <p:cNvSpPr txBox="1"/>
          <p:nvPr/>
        </p:nvSpPr>
        <p:spPr>
          <a:xfrm>
            <a:off x="340026" y="1905001"/>
            <a:ext cx="68989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This module displays the recommended products and allows users to compare them based on price, quality, ratings, features, brand reputation, and availability.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It generates a detailed recommendation report that highlights the best-suited products according to user preferences and AI analysis.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presents comparison results in a simple and understandable format to help users make better purchasing decisions.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User feedback and reviews are collected to evaluate recommendation performance and improve future suggestions.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This module enhances user satisfaction by providing transparent comparisons, useful insights, and continuous improvement of the recommendation system.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D45CE-77EB-4B62-A9D9-B2F143A8D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99" y="1905000"/>
            <a:ext cx="4841575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17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A2F8BCEA-993D-3B3E-01C8-9907EED077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46303"/>
            <a:ext cx="1520062" cy="1342897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02F42B3A-E91F-E03A-80E4-D8E5D3F2A9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6303"/>
            <a:ext cx="1447800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35C70D-8D46-098D-CC93-2C2E5886AF00}"/>
              </a:ext>
            </a:extLst>
          </p:cNvPr>
          <p:cNvSpPr txBox="1"/>
          <p:nvPr/>
        </p:nvSpPr>
        <p:spPr>
          <a:xfrm>
            <a:off x="2133600" y="746395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" panose="02020603050405020304" pitchFamily="18" charset="0"/>
                <a:cs typeface="Times" panose="02020603050405020304" pitchFamily="18" charset="0"/>
              </a:rPr>
              <a:t>        OUTPUT AND RESULTS</a:t>
            </a:r>
            <a:endParaRPr lang="en-IN" sz="4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4093A5-5A6A-4404-A011-25F2341F8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63014"/>
            <a:ext cx="3657600" cy="42615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2A92B0-0E90-4BB5-98BF-DBAC825C93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054372"/>
            <a:ext cx="3886200" cy="42615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F48D85-0F70-4154-B0F4-DEF8E5E315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054372"/>
            <a:ext cx="3657600" cy="427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93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 txBox="1">
            <a:spLocks noGrp="1"/>
          </p:cNvSpPr>
          <p:nvPr>
            <p:ph type="title"/>
          </p:nvPr>
        </p:nvSpPr>
        <p:spPr>
          <a:xfrm>
            <a:off x="1219200" y="604826"/>
            <a:ext cx="9829799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3590">
              <a:lnSpc>
                <a:spcPct val="100000"/>
              </a:lnSpc>
              <a:spcBef>
                <a:spcPts val="105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IN" sz="40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40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48611" name="object 3"/>
          <p:cNvSpPr txBox="1"/>
          <p:nvPr/>
        </p:nvSpPr>
        <p:spPr>
          <a:xfrm>
            <a:off x="152401" y="1752600"/>
            <a:ext cx="8610600" cy="4800600"/>
          </a:xfrm>
          <a:prstGeom prst="rect">
            <a:avLst/>
          </a:prstGeom>
        </p:spPr>
        <p:txBody>
          <a:bodyPr vert="horz" wrap="square" lIns="0" tIns="110489" rIns="0" bIns="0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Collecting accurate and updated product information from different brands is challenging.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Recommendation accuracy depends on the quality and availability of user preference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New users with limited interaction history may receive less personalized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Changes in customer preferences and market trends require continuous model updates.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Large product datasets require efficient storage and processing techniques.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Similar product features among different brands can make accurate ranking difficult.</a:t>
            </a:r>
          </a:p>
        </p:txBody>
      </p:sp>
      <p:pic>
        <p:nvPicPr>
          <p:cNvPr id="209716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91643"/>
            <a:ext cx="1103582" cy="1342897"/>
          </a:xfrm>
          <a:prstGeom prst="rect">
            <a:avLst/>
          </a:prstGeom>
        </p:spPr>
      </p:pic>
      <p:pic>
        <p:nvPicPr>
          <p:cNvPr id="2097170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61DD20-C2CB-4FE3-9EDE-329FE46E7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1905000"/>
            <a:ext cx="3299444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object 2"/>
          <p:cNvSpPr txBox="1">
            <a:spLocks noGrp="1"/>
          </p:cNvSpPr>
          <p:nvPr>
            <p:ph type="title"/>
          </p:nvPr>
        </p:nvSpPr>
        <p:spPr>
          <a:xfrm>
            <a:off x="1905000" y="381000"/>
            <a:ext cx="6934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35530" algn="l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209717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6"/>
            <a:ext cx="1103582" cy="1342897"/>
          </a:xfrm>
          <a:prstGeom prst="rect">
            <a:avLst/>
          </a:prstGeom>
        </p:spPr>
      </p:pic>
      <p:pic>
        <p:nvPicPr>
          <p:cNvPr id="2097174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7352" y="1534540"/>
            <a:ext cx="11529848" cy="4653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" panose="02020603050405020304" pitchFamily="18" charset="0"/>
                <a:cs typeface="Times" panose="02020603050405020304" pitchFamily="18" charset="0"/>
              </a:rPr>
              <a:t>CulinaryCart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successfully provides an intelligent AI-driven recommendation system that helps users select the most suitable brands and products based on their personal preferences and requirements.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applies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 to analyze product attributes such as brand, price, category, ratings, and features to generate accurate and personalized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product comparison and feedback analysis modules improve user decision-making by providing detailed insights and continuously enhancing recommendation quality.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proposed system reduces the time and effort involved in searching and comparing multiple products, while improving customer satisfaction and shopping efficiency.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" panose="02020603050405020304" pitchFamily="18" charset="0"/>
                <a:cs typeface="Times" panose="02020603050405020304" pitchFamily="18" charset="0"/>
              </a:rPr>
              <a:t>CulinaryCart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can be extended in the future by integrating advanced machine learning techniques, real-time product updates, and hybrid recommendation approaches to achieve more reliable and effective suggestions.</a:t>
            </a:r>
          </a:p>
        </p:txBody>
      </p:sp>
    </p:spTree>
    <p:extLst>
      <p:ext uri="{BB962C8B-B14F-4D97-AF65-F5344CB8AC3E}">
        <p14:creationId xmlns:p14="http://schemas.microsoft.com/office/powerpoint/2010/main" val="4139434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object 2"/>
          <p:cNvSpPr txBox="1">
            <a:spLocks noGrp="1"/>
          </p:cNvSpPr>
          <p:nvPr>
            <p:ph type="title"/>
          </p:nvPr>
        </p:nvSpPr>
        <p:spPr>
          <a:xfrm>
            <a:off x="2327529" y="381000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661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IN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048613" name="object 3"/>
          <p:cNvSpPr txBox="1"/>
          <p:nvPr/>
        </p:nvSpPr>
        <p:spPr>
          <a:xfrm>
            <a:off x="304800" y="1600200"/>
            <a:ext cx="7303770" cy="4821555"/>
          </a:xfrm>
          <a:prstGeom prst="rect">
            <a:avLst/>
          </a:prstGeom>
        </p:spPr>
        <p:txBody>
          <a:bodyPr vert="horz" wrap="square" lIns="0" tIns="110489" rIns="0" bIns="0" rtlCol="0" anchor="t">
            <a:no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7"/>
            <a:ext cx="1103582" cy="1342897"/>
          </a:xfrm>
          <a:prstGeom prst="rect">
            <a:avLst/>
          </a:prstGeom>
        </p:spPr>
      </p:pic>
      <p:pic>
        <p:nvPicPr>
          <p:cNvPr id="209717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2699F8-7B11-493B-9A96-BB7D53BB09D0}"/>
              </a:ext>
            </a:extLst>
          </p:cNvPr>
          <p:cNvSpPr/>
          <p:nvPr/>
        </p:nvSpPr>
        <p:spPr>
          <a:xfrm>
            <a:off x="685800" y="1676400"/>
            <a:ext cx="715594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can be enhanced by integrating advanced Machine Learning and Deep Learning techniques to improve recommendation accuracy.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Real-time product updates, price tracking, and availability monitoring can be added for better shopping assistance.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A hybrid recommendation approach combining Content-Based Filtering can provide more personalized suggestions.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Voice-based search and AI chatbot integration can be implemented to improve user interaction and convenience.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can be expanded to support multiple e-commerce platforms and a wider range of product categories.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Sentiment analysis of customer reviews can be used to understand user opinions and improve product recommendations.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D914AE-29E5-4C43-BBBF-9590C6CFE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741" y="1828800"/>
            <a:ext cx="4121659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object 2"/>
          <p:cNvSpPr txBox="1">
            <a:spLocks noGrp="1"/>
          </p:cNvSpPr>
          <p:nvPr>
            <p:ph type="title"/>
          </p:nvPr>
        </p:nvSpPr>
        <p:spPr>
          <a:xfrm>
            <a:off x="1981201" y="461899"/>
            <a:ext cx="76927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9180">
              <a:lnSpc>
                <a:spcPct val="100000"/>
              </a:lnSpc>
              <a:spcBef>
                <a:spcPts val="105"/>
              </a:spcBef>
            </a:pPr>
            <a:r>
              <a:rPr lang="en-IN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48617" name="object 3"/>
          <p:cNvSpPr txBox="1"/>
          <p:nvPr/>
        </p:nvSpPr>
        <p:spPr>
          <a:xfrm>
            <a:off x="911452" y="1676400"/>
            <a:ext cx="10003975" cy="49496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Aliberti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D’Aniello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Gaeta, M., “Situation-aware Recommender Systems: A Systematic Review and Framework for Trustworthy Recommendations,” Artificial Intelligence Review, Springer, 2026.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Shojaei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Asadi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Ardakani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K.,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Safaei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 “LLMs Integration in Recommender Systems: A Comprehensive Survey of Frameworks, Taxonomies and Applications,” IEEE Access, 2026.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Moreno-García, M. N., &amp; de la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 “Deep Learning in Recommender Systems,” Future Internet, MDPI, 2026.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Raza, S., Rahman,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Kamawal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et al., “A Comprehensive Review of Recommender Systems: Transitioning from Theory to Practice,” Computer Science Review, Elsevier, 2025.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Portugal, I.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Alencar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&amp; Cowan, D., “Agentic Recommender Systems: A Systematic Literature Review,” IEEE Transactions on Software Engineering, 2025.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Y., Wang, X., &amp; Chen, Z., “Personalized Product Recommendation Using Artificial Intelligence and Machine Learning Techniques,” International Journal of Intelligent Systems, 2024.</a:t>
            </a:r>
          </a:p>
        </p:txBody>
      </p:sp>
      <p:pic>
        <p:nvPicPr>
          <p:cNvPr id="209717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6"/>
            <a:ext cx="1103582" cy="1342897"/>
          </a:xfrm>
          <a:prstGeom prst="rect">
            <a:avLst/>
          </a:prstGeom>
        </p:spPr>
      </p:pic>
      <p:pic>
        <p:nvPicPr>
          <p:cNvPr id="209717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82216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object 2"/>
          <p:cNvSpPr txBox="1">
            <a:spLocks noGrp="1"/>
          </p:cNvSpPr>
          <p:nvPr>
            <p:ph type="title"/>
          </p:nvPr>
        </p:nvSpPr>
        <p:spPr>
          <a:xfrm>
            <a:off x="3962400" y="2743200"/>
            <a:ext cx="3873204" cy="8598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b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EAF292D0-D203-44F8-85FB-0F6E3DA195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6"/>
            <a:ext cx="1103582" cy="134289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C3D76651-5555-4FA6-8516-7A9EF51CCF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82216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1508</Words>
  <Application>Microsoft Office PowerPoint</Application>
  <PresentationFormat>Widescreen</PresentationFormat>
  <Paragraphs>170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MT</vt:lpstr>
      <vt:lpstr>Calibri</vt:lpstr>
      <vt:lpstr>Times</vt:lpstr>
      <vt:lpstr>Times New Roman</vt:lpstr>
      <vt:lpstr>Wingdings</vt:lpstr>
      <vt:lpstr>Office Theme</vt:lpstr>
      <vt:lpstr>CULINARYCART: AI-ENABLED BRAND PREFERENCE RECOMMENDATION ENGINE    </vt:lpstr>
      <vt:lpstr>INTRODUCTION</vt:lpstr>
      <vt:lpstr>PROBLEM STATEMENT</vt:lpstr>
      <vt:lpstr>PowerPoint Presentation</vt:lpstr>
      <vt:lpstr>LITERATURE REVIEW</vt:lpstr>
      <vt:lpstr>EXISTING VS PROPOSED METHOD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&amp; LIMITATIONS</vt:lpstr>
      <vt:lpstr>CONCLUSION</vt:lpstr>
      <vt:lpstr>FUTURE SCOPE</vt:lpstr>
      <vt:lpstr>REFERENCES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lavanya reddy</cp:lastModifiedBy>
  <cp:revision>54</cp:revision>
  <dcterms:created xsi:type="dcterms:W3CDTF">2025-02-27T18:15:00Z</dcterms:created>
  <dcterms:modified xsi:type="dcterms:W3CDTF">2026-08-26T04:08:05Z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2025-02-24T05:30:00Z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2025-02-28T05:30:00Z</vt:filetime>
  </property>
  <property fmtid="{D5CDD505-2E9C-101B-9397-08002B2CF9AE}" pid="5" name="Producer">
    <vt:lpwstr>Microsoft® PowerPoint® 2019</vt:lpwstr>
  </property>
  <property fmtid="{D5CDD505-2E9C-101B-9397-08002B2CF9AE}" pid="6" name="ICV">
    <vt:lpwstr>3AB549DB350D4409AC5D695B343F58FA_12</vt:lpwstr>
  </property>
  <property fmtid="{D5CDD505-2E9C-101B-9397-08002B2CF9AE}" pid="7" name="KSOProductBuildVer">
    <vt:lpwstr>2057-12.2.0.23197</vt:lpwstr>
  </property>
</Properties>
</file>